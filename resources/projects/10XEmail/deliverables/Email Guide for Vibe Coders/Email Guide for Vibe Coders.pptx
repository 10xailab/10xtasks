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Bebas Neue"/>
      <p:regular r:id="rId17"/>
    </p:embeddedFont>
    <p:embeddedFont>
      <p:font typeface="DM Mono Medium"/>
      <p:regular r:id="rId18"/>
      <p:italic r:id="rId19"/>
    </p:embeddedFont>
    <p:embeddedFont>
      <p:font typeface="DM Mono"/>
      <p:regular r:id="rId20"/>
      <p: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Mono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DM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BebasNeue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DMMonoMedium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DMMono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17f3465b6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17f3465b6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d17f3465b6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7f3465b6_2_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d17f3465b6_2_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d17f3465b6_2_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17f3465b6_2_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d17f3465b6_2_4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d17f3465b6_2_4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17f3465b6_2_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d17f3465b6_2_7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d17f3465b6_2_7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17f3465b6_2_1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d17f3465b6_2_1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d17f3465b6_2_1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17f3465b6_2_1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d17f3465b6_2_14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d17f3465b6_2_14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17f3465b6_2_1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d17f3465b6_2_17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17f3465b6_2_17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17f3465b6_2_2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d17f3465b6_2_2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d17f3465b6_2_2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17f3465b6_2_2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d17f3465b6_2_28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d17f3465b6_2_28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17f3465b6_2_3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d17f3465b6_2_3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d17f3465b6_2_3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linkedin.com/in/chicocharlesworth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inkedin.com/in/chicocharlesworth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900"/>
              <a:buFont typeface="Consolas"/>
              <a:buNone/>
            </a:pPr>
            <a:r>
              <a:rPr lang="en" sz="900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EMAIL</a:t>
            </a:r>
            <a:r>
              <a:rPr i="0" lang="en" sz="9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 GUIDE FOR VIBE CODERS</a:t>
            </a:r>
            <a:endParaRPr i="0" sz="9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457200" y="749808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5400"/>
              <a:buFont typeface="Georgia"/>
              <a:buNone/>
            </a:pPr>
            <a:r>
              <a:rPr b="1" i="0" lang="en" sz="5400" u="none" cap="none" strike="noStrike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Your vibe-coded app </a:t>
            </a:r>
            <a:r>
              <a:rPr b="1" lang="en" sz="5400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is</a:t>
            </a:r>
            <a:endParaRPr i="0" sz="54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5400"/>
              <a:buFont typeface="Georgia"/>
              <a:buNone/>
            </a:pPr>
            <a:r>
              <a:rPr b="1" i="0" lang="en" sz="54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great</a:t>
            </a:r>
            <a:r>
              <a:rPr b="1" i="0" lang="en" sz="5400" u="none" cap="none" strike="noStrike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.</a:t>
            </a:r>
            <a:endParaRPr i="0" sz="54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57200" y="256032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5400"/>
              <a:buFont typeface="Georgia"/>
              <a:buNone/>
            </a:pPr>
            <a:r>
              <a:rPr b="1" i="0" lang="en" sz="54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Your emails are</a:t>
            </a:r>
            <a:endParaRPr i="0" sz="5400" u="none" cap="none" strike="noStrike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5400"/>
              <a:buFont typeface="Georgia"/>
              <a:buNone/>
            </a:pPr>
            <a:r>
              <a:rPr b="1" i="0" lang="en" sz="54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stuck in 2005.</a:t>
            </a:r>
            <a:endParaRPr i="0" sz="54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41414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457200" y="4850813"/>
            <a:ext cx="822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onsolas"/>
              <a:buNone/>
            </a:pPr>
            <a:r>
              <a:rPr i="0" lang="en" sz="900" u="none" cap="none" strike="noStrike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rPr>
              <a:t>Chico Charlesworth</a:t>
            </a:r>
            <a:r>
              <a:rPr i="0" lang="en" sz="9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  ·  </a:t>
            </a:r>
            <a:r>
              <a:rPr i="0" lang="en" sz="900" u="sng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linkedin.com/in/chicocharlesworth</a:t>
            </a:r>
            <a:endParaRPr i="0" sz="900" u="none" cap="none" strike="noStrike">
              <a:solidFill>
                <a:srgbClr val="E8F542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457200" y="4850813"/>
            <a:ext cx="457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onsolas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900"/>
              <a:buFont typeface="Consolas"/>
              <a:buNone/>
            </a:pP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// 01 — THE PROBLEM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457200" y="472479"/>
            <a:ext cx="3931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Vibe coding is great.</a:t>
            </a:r>
            <a:endParaRPr sz="2600">
              <a:solidFill>
                <a:srgbClr val="F0F0F0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Except for emails.</a:t>
            </a:r>
            <a:endParaRPr sz="2600">
              <a:solidFill>
                <a:srgbClr val="F0F0F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457200" y="1536597"/>
            <a:ext cx="4023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You buil</a:t>
            </a:r>
            <a:r>
              <a:rPr lang="en" sz="1200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d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 your app with </a:t>
            </a:r>
            <a:r>
              <a:rPr lang="en" sz="1200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Lovable,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Claude,</a:t>
            </a:r>
            <a:r>
              <a:rPr lang="en" sz="1200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 or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Cursor. You ship the </a:t>
            </a:r>
            <a:r>
              <a:rPr lang="en" sz="1200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UI, auth, database, landing page, the works.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 Users sign</a:t>
            </a:r>
            <a:r>
              <a:rPr lang="en" sz="1200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up </a:t>
            </a:r>
            <a:r>
              <a:rPr lang="en" sz="1200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and they get an email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.</a:t>
            </a:r>
            <a:r>
              <a:rPr lang="en" sz="1200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n" sz="1200">
                <a:solidFill>
                  <a:srgbClr val="CCCCCC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And honestly, it's terrible...</a:t>
            </a:r>
            <a:endParaRPr i="0" sz="1200" u="none" cap="none" strike="noStrike">
              <a:solidFill>
                <a:schemeClr val="dk1"/>
              </a:solidFill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4663440" y="448750"/>
            <a:ext cx="1965900" cy="12069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4663440" y="448750"/>
            <a:ext cx="45600" cy="1206900"/>
          </a:xfrm>
          <a:prstGeom prst="rect">
            <a:avLst/>
          </a:prstGeom>
          <a:solidFill>
            <a:srgbClr val="FF4D4D"/>
          </a:solidFill>
          <a:ln cap="flat" cmpd="sng" w="12700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4773175" y="759653"/>
            <a:ext cx="182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" sz="12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Generic</a:t>
            </a:r>
            <a:r>
              <a:rPr b="0" i="0" lang="en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r>
              <a:rPr b="0" i="0" lang="en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template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663440" y="1893502"/>
            <a:ext cx="1965900" cy="12069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4663440" y="1893502"/>
            <a:ext cx="45600" cy="1206900"/>
          </a:xfrm>
          <a:prstGeom prst="rect">
            <a:avLst/>
          </a:prstGeom>
          <a:solidFill>
            <a:srgbClr val="FF4D4D"/>
          </a:solidFill>
          <a:ln cap="flat" cmpd="sng" w="12700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4773168" y="2204398"/>
            <a:ext cx="1737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Wrong font, wrong colours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663440" y="3338254"/>
            <a:ext cx="1965900" cy="12069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4663440" y="3338254"/>
            <a:ext cx="45600" cy="1206900"/>
          </a:xfrm>
          <a:prstGeom prst="rect">
            <a:avLst/>
          </a:prstGeom>
          <a:solidFill>
            <a:srgbClr val="FF4D4D"/>
          </a:solidFill>
          <a:ln cap="flat" cmpd="sng" w="12700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4773168" y="3649150"/>
            <a:ext cx="1737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Broken spacing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6766560" y="448750"/>
            <a:ext cx="1965900" cy="12069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6766560" y="448750"/>
            <a:ext cx="45600" cy="1206900"/>
          </a:xfrm>
          <a:prstGeom prst="rect">
            <a:avLst/>
          </a:prstGeom>
          <a:solidFill>
            <a:srgbClr val="FF4D4D"/>
          </a:solidFill>
          <a:ln cap="flat" cmpd="sng" w="12700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6876288" y="759646"/>
            <a:ext cx="1737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Unstyled links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6766560" y="1893502"/>
            <a:ext cx="1965900" cy="12069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6766560" y="1893502"/>
            <a:ext cx="45600" cy="1206900"/>
          </a:xfrm>
          <a:prstGeom prst="rect">
            <a:avLst/>
          </a:prstGeom>
          <a:solidFill>
            <a:srgbClr val="FF4D4D"/>
          </a:solidFill>
          <a:ln cap="flat" cmpd="sng" w="12700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6876288" y="2204398"/>
            <a:ext cx="1737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Dark mode chaos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6766560" y="3338254"/>
            <a:ext cx="1965900" cy="12069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6766560" y="3338254"/>
            <a:ext cx="45600" cy="1206900"/>
          </a:xfrm>
          <a:prstGeom prst="rect">
            <a:avLst/>
          </a:prstGeom>
          <a:solidFill>
            <a:srgbClr val="FF4D4D"/>
          </a:solidFill>
          <a:ln cap="flat" cmpd="sng" w="12700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6876288" y="3649150"/>
            <a:ext cx="1737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Landed in spam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57200" y="2625428"/>
            <a:ext cx="4023300" cy="19203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457200" y="2625428"/>
            <a:ext cx="4023300" cy="456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594360" y="2760273"/>
            <a:ext cx="365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onsolas"/>
              <a:buNone/>
            </a:pPr>
            <a:r>
              <a:rPr i="0" lang="en" sz="1000" u="none" cap="none" strike="noStrike">
                <a:solidFill>
                  <a:srgbClr val="F5A623"/>
                </a:solidFill>
                <a:latin typeface="Bebas Neue"/>
                <a:ea typeface="Bebas Neue"/>
                <a:cs typeface="Bebas Neue"/>
                <a:sym typeface="Bebas Neue"/>
              </a:rPr>
              <a:t>WHY THIS HAPPENS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587125" y="3037610"/>
            <a:ext cx="3749100" cy="11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Because </a:t>
            </a:r>
            <a:r>
              <a:rPr lang="en" sz="1200">
                <a:solidFill>
                  <a:srgbClr val="CCCCCC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email HTML is different from web HTML</a:t>
            </a:r>
            <a:r>
              <a:rPr lang="en" sz="1200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. And AI doesn't know the constraints unless you explicitly tell it. So you get unbranded emails that break in Gmail, lose styles in Outlook, and go straight to spam.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900"/>
              <a:buFont typeface="Consolas"/>
              <a:buNone/>
            </a:pP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// </a:t>
            </a:r>
            <a:r>
              <a:rPr lang="en" sz="1000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02 — </a:t>
            </a:r>
            <a:r>
              <a:rPr lang="en" sz="1000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where </a:t>
            </a:r>
            <a:r>
              <a:rPr lang="en" sz="1000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AI breaks emails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449975" y="622145"/>
            <a:ext cx="82296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AI generates web HTML.</a:t>
            </a:r>
            <a:endParaRPr sz="2600">
              <a:solidFill>
                <a:srgbClr val="F0F0F0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Email needs something different.</a:t>
            </a:r>
            <a:endParaRPr sz="2600">
              <a:solidFill>
                <a:srgbClr val="F0F0F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57225" y="1599326"/>
            <a:ext cx="4023300" cy="30018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457225" y="1599332"/>
            <a:ext cx="4023300" cy="456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594385" y="1672484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900"/>
              <a:buFont typeface="Consolas"/>
              <a:buNone/>
            </a:pP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AI HANDLES THIS WELL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594385" y="2038244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250"/>
              <a:buFont typeface="Calibri"/>
              <a:buNone/>
            </a:pP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✓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Generating UI components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594385" y="2385716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250"/>
              <a:buFont typeface="Calibri"/>
              <a:buNone/>
            </a:pP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✓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Writing backend code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594385" y="2733188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250"/>
              <a:buFont typeface="Calibri"/>
              <a:buNone/>
            </a:pP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✓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Generating SQL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594385" y="3080660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250"/>
              <a:buFont typeface="Calibri"/>
              <a:buNone/>
            </a:pP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✓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Creating React components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594385" y="3428132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250"/>
              <a:buFont typeface="Calibri"/>
              <a:buNone/>
            </a:pP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✓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Writing copy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594385" y="3775604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250"/>
              <a:buFont typeface="Calibri"/>
              <a:buNone/>
            </a:pP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✓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Creating landing pages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94385" y="4123076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250"/>
              <a:buFont typeface="Calibri"/>
              <a:buNone/>
            </a:pP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✓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Fixing bugs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663475" y="1599326"/>
            <a:ext cx="4023300" cy="30018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4663465" y="1599332"/>
            <a:ext cx="4023300" cy="45600"/>
          </a:xfrm>
          <a:prstGeom prst="rect">
            <a:avLst/>
          </a:prstGeom>
          <a:solidFill>
            <a:srgbClr val="FF4D4D"/>
          </a:solidFill>
          <a:ln cap="flat" cmpd="sng" w="12700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4800625" y="1672484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900"/>
              <a:buFont typeface="Consolas"/>
              <a:buNone/>
            </a:pPr>
            <a:r>
              <a:rPr i="0" lang="en" sz="1000" u="none" cap="none" strike="noStrike">
                <a:solidFill>
                  <a:srgbClr val="FF4D4D"/>
                </a:solidFill>
                <a:latin typeface="Bebas Neue"/>
                <a:ea typeface="Bebas Neue"/>
                <a:cs typeface="Bebas Neue"/>
                <a:sym typeface="Bebas Neue"/>
              </a:rPr>
              <a:t>BREAKS IN EMAILS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4800625" y="2038244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50"/>
              <a:buFont typeface="Calibri"/>
              <a:buNone/>
            </a:pPr>
            <a:r>
              <a:rPr i="0" lang="en" sz="1200" u="none" cap="none" strike="noStrike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✗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Tailwind classes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800625" y="2385716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50"/>
              <a:buFont typeface="Calibri"/>
              <a:buNone/>
            </a:pPr>
            <a:r>
              <a:rPr i="0" lang="en" sz="1200" u="none" cap="none" strike="noStrike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✗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Flexbox layouts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800625" y="2733188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50"/>
              <a:buFont typeface="Calibri"/>
              <a:buNone/>
            </a:pPr>
            <a:r>
              <a:rPr i="0" lang="en" sz="1200" u="none" cap="none" strike="noStrike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✗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External CSS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4800625" y="3080660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50"/>
              <a:buFont typeface="Calibri"/>
              <a:buNone/>
            </a:pPr>
            <a:r>
              <a:rPr i="0" lang="en" sz="1200" u="none" cap="none" strike="noStrike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✗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Custom fonts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4800625" y="3428132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50"/>
              <a:buFont typeface="Calibri"/>
              <a:buNone/>
            </a:pPr>
            <a:r>
              <a:rPr i="0" lang="en" sz="1200" u="none" cap="none" strike="noStrike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✗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Modern HTML tags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800625" y="3775604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50"/>
              <a:buFont typeface="Calibri"/>
              <a:buNone/>
            </a:pPr>
            <a:r>
              <a:rPr i="0" lang="en" sz="1200" u="none" cap="none" strike="noStrike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✗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Dark mode styles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800625" y="4123076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50"/>
              <a:buFont typeface="Calibri"/>
              <a:buNone/>
            </a:pPr>
            <a:r>
              <a:rPr i="0" lang="en" sz="1200" u="none" cap="none" strike="noStrike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✗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Responsive layouts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900"/>
              <a:buFont typeface="Consolas"/>
              <a:buNone/>
            </a:pP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// </a:t>
            </a:r>
            <a:r>
              <a:rPr lang="en" sz="1000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03 — why default auth emails look bad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57200" y="465244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000"/>
              <a:buFont typeface="Georgia"/>
              <a:buNone/>
            </a:pPr>
            <a:r>
              <a:rPr i="0" lang="en" sz="2600" u="none" cap="none" strike="noStrike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Default templates work.</a:t>
            </a:r>
            <a:endParaRPr i="0" sz="26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000"/>
              <a:buFont typeface="Georgia"/>
              <a:buNone/>
            </a:pPr>
            <a:r>
              <a:rPr i="0" lang="en" sz="2600" u="none" cap="none" strike="noStrike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They just look terrible.</a:t>
            </a:r>
            <a:endParaRPr i="0" sz="26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57200" y="1572768"/>
            <a:ext cx="1572768" cy="169164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548640" y="1664208"/>
            <a:ext cx="411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3200"/>
              <a:buFont typeface="Georgia"/>
              <a:buNone/>
            </a:pPr>
            <a:r>
              <a:rPr b="1" i="0" lang="en" sz="32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1</a:t>
            </a:r>
            <a:endParaRPr i="0" sz="32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548640" y="221284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Use default</a:t>
            </a:r>
            <a:r>
              <a:rPr i="0" lang="en" sz="120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 template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548640" y="2596896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Safe but generic,</a:t>
            </a:r>
            <a:br>
              <a:rPr lang="en" sz="1100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</a:br>
            <a:r>
              <a:rPr lang="en" sz="1100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no branding</a:t>
            </a:r>
            <a:endParaRPr i="0" sz="11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2048256" y="2331720"/>
            <a:ext cx="109728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2176272" y="1572768"/>
            <a:ext cx="1572768" cy="169164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2267712" y="1664208"/>
            <a:ext cx="411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3200"/>
              <a:buFont typeface="Georgia"/>
              <a:buNone/>
            </a:pPr>
            <a:r>
              <a:rPr b="1" i="0" lang="en" sz="32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2</a:t>
            </a:r>
            <a:endParaRPr i="0" sz="32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2267712" y="221284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Edit in dashboard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2267712" y="2596896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Manual edits, unsafe</a:t>
            </a:r>
            <a:endParaRPr i="0" sz="11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3767328" y="2331720"/>
            <a:ext cx="109728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3895344" y="1572768"/>
            <a:ext cx="1572768" cy="169164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3986784" y="1664208"/>
            <a:ext cx="411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3200"/>
              <a:buFont typeface="Georgia"/>
              <a:buNone/>
            </a:pPr>
            <a:r>
              <a:rPr b="1" i="0" lang="en" sz="32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3</a:t>
            </a:r>
            <a:endParaRPr i="0" sz="32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3986784" y="221284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Save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3986784" y="2596896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No preview,</a:t>
            </a:r>
            <a:endParaRPr sz="1100">
              <a:solidFill>
                <a:srgbClr val="888888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no version</a:t>
            </a:r>
            <a:r>
              <a:rPr lang="en" sz="1100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i="0" lang="en" sz="11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control</a:t>
            </a:r>
            <a:endParaRPr i="0" sz="11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5486400" y="2331720"/>
            <a:ext cx="109728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5614416" y="1572768"/>
            <a:ext cx="1572768" cy="169164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705856" y="1664208"/>
            <a:ext cx="411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3200"/>
              <a:buFont typeface="Georgia"/>
              <a:buNone/>
            </a:pPr>
            <a:r>
              <a:rPr b="1" i="0" lang="en" sz="32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4</a:t>
            </a:r>
            <a:endParaRPr i="0" sz="32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5705856" y="221284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Break layout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5705856" y="2596896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HTML renders differently in clients</a:t>
            </a:r>
            <a:endParaRPr i="0" sz="11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7205472" y="2331720"/>
            <a:ext cx="109728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7333488" y="1572768"/>
            <a:ext cx="1572768" cy="1691640"/>
          </a:xfrm>
          <a:prstGeom prst="rect">
            <a:avLst/>
          </a:prstGeom>
          <a:solidFill>
            <a:srgbClr val="1A0A0A"/>
          </a:solidFill>
          <a:ln cap="flat" cmpd="sng" w="9525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7424928" y="1664208"/>
            <a:ext cx="411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3200"/>
              <a:buFont typeface="Georgia"/>
              <a:buNone/>
            </a:pPr>
            <a:r>
              <a:rPr b="1" i="0" lang="en" sz="3200" u="none" cap="none" strike="noStrike">
                <a:solidFill>
                  <a:srgbClr val="FF4D4D"/>
                </a:solidFill>
                <a:latin typeface="Bebas Neue"/>
                <a:ea typeface="Bebas Neue"/>
                <a:cs typeface="Bebas Neue"/>
                <a:sym typeface="Bebas Neue"/>
              </a:rPr>
              <a:t>5</a:t>
            </a:r>
            <a:endParaRPr i="0" sz="32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7424925" y="2212850"/>
            <a:ext cx="144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User </a:t>
            </a:r>
            <a:r>
              <a:rPr lang="en" sz="1200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gets</a:t>
            </a:r>
            <a:r>
              <a:rPr i="0" lang="en" sz="120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n" sz="1200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broken emails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7424928" y="2596896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Brand damage, trust lost</a:t>
            </a:r>
            <a:endParaRPr i="0" sz="11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57200" y="3547062"/>
            <a:ext cx="8229600" cy="8229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457200" y="3547062"/>
            <a:ext cx="8229600" cy="456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94360" y="3638502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800"/>
              <a:buFont typeface="Consolas"/>
              <a:buNone/>
            </a:pPr>
            <a:r>
              <a:rPr i="0" lang="en" sz="800" u="none" cap="none" strike="noStrike">
                <a:solidFill>
                  <a:srgbClr val="F5A623"/>
                </a:solidFill>
                <a:latin typeface="Bebas Neue"/>
                <a:ea typeface="Bebas Neue"/>
                <a:cs typeface="Bebas Neue"/>
                <a:sym typeface="Bebas Neue"/>
              </a:rPr>
              <a:t>THE RESULT</a:t>
            </a:r>
            <a:endParaRPr i="0" sz="800" u="none" cap="none" strike="noStrike">
              <a:solidFill>
                <a:srgbClr val="F5A62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594360" y="383967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No branding. No versioning. No preview. No rollback. No safe deploy.</a:t>
            </a:r>
            <a:endParaRPr sz="1200">
              <a:solidFill>
                <a:srgbClr val="CCCCCC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So people </a:t>
            </a:r>
            <a:r>
              <a:rPr lang="en" sz="1200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stick with the default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 —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 and </a:t>
            </a:r>
            <a:r>
              <a:rPr lang="en" sz="1200">
                <a:solidFill>
                  <a:srgbClr val="CCCCCC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ugly emails</a:t>
            </a:r>
            <a:r>
              <a:rPr i="0" lang="en" sz="1200" u="none" cap="none" strike="noStrike">
                <a:solidFill>
                  <a:srgbClr val="CCCCCC"/>
                </a:solidFill>
                <a:latin typeface="DM Mono Medium"/>
                <a:ea typeface="DM Mono Medium"/>
                <a:cs typeface="DM Mono Medium"/>
                <a:sym typeface="DM Mono Medium"/>
              </a:rPr>
              <a:t> ship forever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900"/>
              <a:buFont typeface="Consolas"/>
              <a:buNone/>
            </a:pP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// </a:t>
            </a:r>
            <a:r>
              <a:rPr lang="en" sz="1000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04 — the safe way to handle emails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457200" y="418967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000"/>
              <a:buFont typeface="Georgia"/>
              <a:buNone/>
            </a:pPr>
            <a:r>
              <a:rPr lang="en" sz="2600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Systemize your emails.</a:t>
            </a:r>
            <a:endParaRPr i="0" sz="26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457200" y="1239000"/>
            <a:ext cx="4023300" cy="1984200"/>
          </a:xfrm>
          <a:prstGeom prst="rect">
            <a:avLst/>
          </a:prstGeom>
          <a:solidFill>
            <a:srgbClr val="0F1A0F"/>
          </a:solidFill>
          <a:ln cap="flat" cmpd="sng" w="9525">
            <a:solidFill>
              <a:srgbClr val="2A3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457200" y="1239000"/>
            <a:ext cx="45600" cy="19842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658368" y="1330442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800"/>
              <a:buFont typeface="Consolas"/>
              <a:buNone/>
            </a:pP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FILE STRUCTURE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658368" y="1641338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onsolas"/>
              <a:buNone/>
            </a:pPr>
            <a:r>
              <a:rPr i="0" lang="en" sz="12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emails/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58368" y="1988810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890"/>
              </a:buClr>
              <a:buSzPts val="1200"/>
              <a:buFont typeface="Consolas"/>
              <a:buNone/>
            </a:pPr>
            <a:r>
              <a:rPr i="0" lang="en" sz="1200" u="none" cap="none" strike="noStrike">
                <a:solidFill>
                  <a:srgbClr val="A8C890"/>
                </a:solidFill>
                <a:latin typeface="DM Mono"/>
                <a:ea typeface="DM Mono"/>
                <a:cs typeface="DM Mono"/>
                <a:sym typeface="DM Mono"/>
              </a:rPr>
              <a:t>  layout.html     ← one base layout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658368" y="2336282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890"/>
              </a:buClr>
              <a:buSzPts val="1200"/>
              <a:buFont typeface="Consolas"/>
              <a:buNone/>
            </a:pPr>
            <a:r>
              <a:rPr i="0" lang="en" sz="1200" u="none" cap="none" strike="noStrike">
                <a:solidFill>
                  <a:srgbClr val="A8C890"/>
                </a:solidFill>
                <a:latin typeface="DM Mono"/>
                <a:ea typeface="DM Mono"/>
                <a:cs typeface="DM Mono"/>
                <a:sym typeface="DM Mono"/>
              </a:rPr>
              <a:t>  confirm.html    ← reuse structure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658368" y="2683754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890"/>
              </a:buClr>
              <a:buSzPts val="1200"/>
              <a:buFont typeface="Consolas"/>
              <a:buNone/>
            </a:pPr>
            <a:r>
              <a:rPr i="0" lang="en" sz="1200" u="none" cap="none" strike="noStrike">
                <a:solidFill>
                  <a:srgbClr val="A8C890"/>
                </a:solidFill>
                <a:latin typeface="DM Mono"/>
                <a:ea typeface="DM Mono"/>
                <a:cs typeface="DM Mono"/>
                <a:sym typeface="DM Mono"/>
              </a:rPr>
              <a:t>  </a:t>
            </a:r>
            <a:r>
              <a:rPr lang="en" sz="1200">
                <a:solidFill>
                  <a:srgbClr val="A8C890"/>
                </a:solidFill>
                <a:latin typeface="DM Mono"/>
                <a:ea typeface="DM Mono"/>
                <a:cs typeface="DM Mono"/>
                <a:sym typeface="DM Mono"/>
              </a:rPr>
              <a:t>invite</a:t>
            </a:r>
            <a:r>
              <a:rPr i="0" lang="en" sz="1200" u="none" cap="none" strike="noStrike">
                <a:solidFill>
                  <a:srgbClr val="A8C890"/>
                </a:solidFill>
                <a:latin typeface="DM Mono"/>
                <a:ea typeface="DM Mono"/>
                <a:cs typeface="DM Mono"/>
                <a:sym typeface="DM Mono"/>
              </a:rPr>
              <a:t>.html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4663440" y="1239002"/>
            <a:ext cx="4023300" cy="7773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663440" y="1239002"/>
            <a:ext cx="45600" cy="7773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4846320" y="133044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50"/>
              <a:buFont typeface="Calibri"/>
              <a:buNone/>
            </a:pPr>
            <a:r>
              <a:rPr i="0" lang="en" sz="135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One layout</a:t>
            </a:r>
            <a:endParaRPr i="0" sz="135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4846320" y="162305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A single base template. No duplication.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663440" y="2071106"/>
            <a:ext cx="4023300" cy="7773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4663440" y="2071106"/>
            <a:ext cx="45600" cy="7773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4846320" y="2162546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50"/>
              <a:buFont typeface="Calibri"/>
              <a:buNone/>
            </a:pPr>
            <a:r>
              <a:rPr i="0" lang="en" sz="135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Inline styles only</a:t>
            </a:r>
            <a:endParaRPr i="0" sz="135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846320" y="2455154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No external CSS. No Tailwind. Tables only.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4663440" y="2903210"/>
            <a:ext cx="4023300" cy="7773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4663440" y="2903210"/>
            <a:ext cx="45600" cy="7773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4846320" y="299465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50"/>
              <a:buFont typeface="Calibri"/>
              <a:buNone/>
            </a:pPr>
            <a:r>
              <a:rPr i="0" lang="en" sz="135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No runtime CSS or JS</a:t>
            </a:r>
            <a:endParaRPr i="0" sz="135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846320" y="3287258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Static, predictable, client-safe HTML.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4663440" y="3735314"/>
            <a:ext cx="4023300" cy="7773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4663440" y="3735314"/>
            <a:ext cx="45600" cy="7773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4846320" y="3826754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50"/>
              <a:buFont typeface="Calibri"/>
              <a:buNone/>
            </a:pPr>
            <a:r>
              <a:rPr i="0" lang="en" sz="135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Small templates</a:t>
            </a:r>
            <a:endParaRPr i="0" sz="135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4846320" y="4119362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One per email type. Easy to audit and test.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900"/>
              <a:buFont typeface="Consolas"/>
              <a:buNone/>
            </a:pP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// </a:t>
            </a:r>
            <a:r>
              <a:rPr lang="en" sz="1000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05 — how to use AI safely for emails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57200" y="494181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000"/>
              <a:buFont typeface="Georgia"/>
              <a:buNone/>
            </a:pPr>
            <a:r>
              <a:rPr i="0" lang="en" sz="2600" u="none" cap="none" strike="noStrike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Give constraints.</a:t>
            </a:r>
            <a:endParaRPr i="0" sz="26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000"/>
              <a:buFont typeface="Georgia"/>
              <a:buNone/>
            </a:pPr>
            <a:r>
              <a:rPr i="0" lang="en" sz="2600" u="none" cap="none" strike="noStrike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Get good output.</a:t>
            </a:r>
            <a:endParaRPr i="0" sz="26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57200" y="1589532"/>
            <a:ext cx="4023300" cy="2377500"/>
          </a:xfrm>
          <a:prstGeom prst="rect">
            <a:avLst/>
          </a:prstGeom>
          <a:solidFill>
            <a:srgbClr val="0F1A0F"/>
          </a:solidFill>
          <a:ln cap="flat" cmpd="sng" w="9525">
            <a:solidFill>
              <a:srgbClr val="2A3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57200" y="1589532"/>
            <a:ext cx="45600" cy="23775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58368" y="1662684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900"/>
              <a:buFont typeface="Consolas"/>
              <a:buNone/>
            </a:pP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✓  GOOD PROMPT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658368" y="2010156"/>
            <a:ext cx="3566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890"/>
              </a:buClr>
              <a:buSzPts val="1200"/>
              <a:buFont typeface="Consolas"/>
              <a:buNone/>
            </a:pPr>
            <a:r>
              <a:rPr i="0" lang="en" sz="1200" u="none" cap="none" strike="noStrike">
                <a:solidFill>
                  <a:srgbClr val="A8C890"/>
                </a:solidFill>
                <a:latin typeface="DM Mono"/>
                <a:ea typeface="DM Mono"/>
                <a:cs typeface="DM Mono"/>
                <a:sym typeface="DM Mono"/>
              </a:rPr>
              <a:t>Generate an email-safe HTML template.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658368" y="2394204"/>
            <a:ext cx="3566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890"/>
              </a:buClr>
              <a:buSzPts val="1200"/>
              <a:buFont typeface="Consolas"/>
              <a:buNone/>
            </a:pPr>
            <a:r>
              <a:rPr i="0" lang="en" sz="1200" u="none" cap="none" strike="noStrike">
                <a:solidFill>
                  <a:srgbClr val="A8C890"/>
                </a:solidFill>
                <a:latin typeface="DM Mono"/>
                <a:ea typeface="DM Mono"/>
                <a:cs typeface="DM Mono"/>
                <a:sym typeface="DM Mono"/>
              </a:rPr>
              <a:t>Use tables for layout.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658368" y="2778252"/>
            <a:ext cx="3566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890"/>
              </a:buClr>
              <a:buSzPts val="1200"/>
              <a:buFont typeface="Consolas"/>
              <a:buNone/>
            </a:pPr>
            <a:r>
              <a:rPr i="0" lang="en" sz="1200" u="none" cap="none" strike="noStrike">
                <a:solidFill>
                  <a:srgbClr val="A8C890"/>
                </a:solidFill>
                <a:latin typeface="DM Mono"/>
                <a:ea typeface="DM Mono"/>
                <a:cs typeface="DM Mono"/>
                <a:sym typeface="DM Mono"/>
              </a:rPr>
              <a:t>Use inline styles only.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658368" y="3162300"/>
            <a:ext cx="3566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890"/>
              </a:buClr>
              <a:buSzPts val="1200"/>
              <a:buFont typeface="Consolas"/>
              <a:buNone/>
            </a:pPr>
            <a:r>
              <a:rPr i="0" lang="en" sz="1200" u="none" cap="none" strike="noStrike">
                <a:solidFill>
                  <a:srgbClr val="A8C890"/>
                </a:solidFill>
                <a:latin typeface="DM Mono"/>
                <a:ea typeface="DM Mono"/>
                <a:cs typeface="DM Mono"/>
                <a:sym typeface="DM Mono"/>
              </a:rPr>
              <a:t>No flexbox. No external CSS.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658368" y="3546348"/>
            <a:ext cx="3566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890"/>
              </a:buClr>
              <a:buSzPts val="1200"/>
              <a:buFont typeface="Consolas"/>
              <a:buNone/>
            </a:pPr>
            <a:r>
              <a:rPr i="0" lang="en" sz="1200" u="none" cap="none" strike="noStrike">
                <a:solidFill>
                  <a:srgbClr val="A8C890"/>
                </a:solidFill>
                <a:latin typeface="DM Mono"/>
                <a:ea typeface="DM Mono"/>
                <a:cs typeface="DM Mono"/>
                <a:sym typeface="DM Mono"/>
              </a:rPr>
              <a:t>Must work in Gmail and Outlook.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4663440" y="1589532"/>
            <a:ext cx="4023300" cy="1005900"/>
          </a:xfrm>
          <a:prstGeom prst="rect">
            <a:avLst/>
          </a:prstGeom>
          <a:solidFill>
            <a:srgbClr val="1A0808"/>
          </a:solidFill>
          <a:ln cap="flat" cmpd="sng" w="9525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663440" y="1589532"/>
            <a:ext cx="45600" cy="1005900"/>
          </a:xfrm>
          <a:prstGeom prst="rect">
            <a:avLst/>
          </a:prstGeom>
          <a:solidFill>
            <a:srgbClr val="FF4D4D"/>
          </a:solidFill>
          <a:ln cap="flat" cmpd="sng" w="12700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846320" y="1662684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900"/>
              <a:buFont typeface="Consolas"/>
              <a:buNone/>
            </a:pPr>
            <a:r>
              <a:rPr i="0" lang="en" sz="1000" u="none" cap="none" strike="noStrike">
                <a:solidFill>
                  <a:srgbClr val="FF4D4D"/>
                </a:solidFill>
                <a:latin typeface="Bebas Neue"/>
                <a:ea typeface="Bebas Neue"/>
                <a:cs typeface="Bebas Neue"/>
                <a:sym typeface="Bebas Neue"/>
              </a:rPr>
              <a:t>✗  BAD PROMPT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4846320" y="1955292"/>
            <a:ext cx="3657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onsolas"/>
              <a:buNone/>
            </a:pPr>
            <a:r>
              <a:rPr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Make a nice email template</a:t>
            </a:r>
            <a:endParaRPr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663440" y="2723388"/>
            <a:ext cx="4023300" cy="12435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661673" y="2735690"/>
            <a:ext cx="4023300" cy="426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4775710" y="2830241"/>
            <a:ext cx="365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800"/>
              <a:buFont typeface="Consolas"/>
              <a:buNone/>
            </a:pPr>
            <a:r>
              <a:rPr lang="en" sz="1000">
                <a:solidFill>
                  <a:srgbClr val="F5A623"/>
                </a:solidFill>
                <a:latin typeface="Bebas Neue"/>
                <a:ea typeface="Bebas Neue"/>
                <a:cs typeface="Bebas Neue"/>
                <a:sym typeface="Bebas Neue"/>
              </a:rPr>
              <a:t>BE INtentional</a:t>
            </a:r>
            <a:endParaRPr i="0" sz="1000" u="none" cap="none" strike="noStrike">
              <a:solidFill>
                <a:srgbClr val="F5A62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762500" y="3003755"/>
            <a:ext cx="38406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" sz="1200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AI works well for emails but only when you're specific.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900"/>
              <a:buFont typeface="Consolas"/>
              <a:buNone/>
            </a:pP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// </a:t>
            </a:r>
            <a:r>
              <a:rPr lang="en" sz="1000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06 — always preview before sending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457200" y="460060"/>
            <a:ext cx="8229600" cy="7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2800"/>
              <a:buFont typeface="Georgia"/>
              <a:buNone/>
            </a:pPr>
            <a:r>
              <a:rPr i="0" lang="en" sz="2600" u="none" cap="none" strike="noStrike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Never deploy email templates blind.</a:t>
            </a:r>
            <a:endParaRPr i="0" sz="26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457200" y="1300584"/>
            <a:ext cx="384000" cy="5121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57200" y="1300584"/>
            <a:ext cx="384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0A0A0A"/>
                </a:solidFill>
                <a:latin typeface="Bebas Neue"/>
                <a:ea typeface="Bebas Neue"/>
                <a:cs typeface="Bebas Neue"/>
                <a:sym typeface="Bebas Neue"/>
              </a:rPr>
              <a:t>1</a:t>
            </a:r>
            <a:endParaRPr i="0" sz="22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969264" y="1318873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50"/>
              <a:buFont typeface="Calibri"/>
              <a:buNone/>
            </a:pPr>
            <a:r>
              <a:rPr i="0" lang="en" sz="135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Preview in browser</a:t>
            </a:r>
            <a:endParaRPr i="0" sz="135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969264" y="1574904"/>
            <a:ext cx="4114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Catch obvious layout breaks early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630936" y="1830937"/>
            <a:ext cx="36600" cy="1830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57200" y="1958953"/>
            <a:ext cx="384000" cy="5121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457200" y="1958953"/>
            <a:ext cx="384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0A0A0A"/>
                </a:solidFill>
                <a:latin typeface="Bebas Neue"/>
                <a:ea typeface="Bebas Neue"/>
                <a:cs typeface="Bebas Neue"/>
                <a:sym typeface="Bebas Neue"/>
              </a:rPr>
              <a:t>2</a:t>
            </a:r>
            <a:endParaRPr i="0" sz="22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969264" y="1977241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50"/>
              <a:buFont typeface="Calibri"/>
              <a:buNone/>
            </a:pPr>
            <a:r>
              <a:rPr i="0" lang="en" sz="135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Send test email</a:t>
            </a:r>
            <a:endParaRPr i="0" sz="135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969264" y="2233273"/>
            <a:ext cx="4114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To a real inbox, not preview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630936" y="2489305"/>
            <a:ext cx="36600" cy="1830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457200" y="2617321"/>
            <a:ext cx="384000" cy="5121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457200" y="2617321"/>
            <a:ext cx="384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0A0A0A"/>
                </a:solidFill>
                <a:latin typeface="Bebas Neue"/>
                <a:ea typeface="Bebas Neue"/>
                <a:cs typeface="Bebas Neue"/>
                <a:sym typeface="Bebas Neue"/>
              </a:rPr>
              <a:t>3</a:t>
            </a:r>
            <a:endParaRPr i="0" sz="22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969264" y="2635609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50"/>
              <a:buFont typeface="Calibri"/>
              <a:buNone/>
            </a:pPr>
            <a:r>
              <a:rPr i="0" lang="en" sz="135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Check Gmail + Outlook</a:t>
            </a:r>
            <a:endParaRPr i="0" sz="135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969264" y="2891641"/>
            <a:ext cx="4114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Both. Every time.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30936" y="3147673"/>
            <a:ext cx="36600" cy="1830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57200" y="3275688"/>
            <a:ext cx="384000" cy="5121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457200" y="3275688"/>
            <a:ext cx="384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200"/>
              <a:buFont typeface="Georgia"/>
              <a:buNone/>
            </a:pPr>
            <a:r>
              <a:rPr b="1" lang="en" sz="2200">
                <a:solidFill>
                  <a:srgbClr val="0A0A0A"/>
                </a:solidFill>
                <a:latin typeface="Bebas Neue"/>
                <a:ea typeface="Bebas Neue"/>
                <a:cs typeface="Bebas Neue"/>
                <a:sym typeface="Bebas Neue"/>
              </a:rPr>
              <a:t>4</a:t>
            </a:r>
            <a:endParaRPr i="0" sz="22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969264" y="3293977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50"/>
              <a:buFont typeface="Calibri"/>
              <a:buNone/>
            </a:pPr>
            <a:r>
              <a:rPr i="0" lang="en" sz="135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Then deploy</a:t>
            </a:r>
            <a:endParaRPr i="0" sz="135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969264" y="3550009"/>
            <a:ext cx="4114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With version history </a:t>
            </a:r>
            <a:r>
              <a:rPr lang="en" sz="1200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so you can</a:t>
            </a:r>
            <a:r>
              <a:rPr i="0" lang="en" sz="12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 rollback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4937760" y="1290828"/>
            <a:ext cx="3749100" cy="16458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937760" y="1290828"/>
            <a:ext cx="3749100" cy="45600"/>
          </a:xfrm>
          <a:prstGeom prst="rect">
            <a:avLst/>
          </a:prstGeom>
          <a:solidFill>
            <a:srgbClr val="FF4D4D"/>
          </a:solidFill>
          <a:ln cap="flat" cmpd="sng" w="12700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5084064" y="1382268"/>
            <a:ext cx="347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800"/>
              <a:buFont typeface="Consolas"/>
              <a:buNone/>
            </a:pPr>
            <a:r>
              <a:rPr lang="en" sz="1000">
                <a:solidFill>
                  <a:srgbClr val="FF4D4D"/>
                </a:solidFill>
                <a:latin typeface="Bebas Neue"/>
                <a:ea typeface="Bebas Neue"/>
                <a:cs typeface="Bebas Neue"/>
                <a:sym typeface="Bebas Neue"/>
              </a:rPr>
              <a:t>Broken</a:t>
            </a:r>
            <a:r>
              <a:rPr i="0" lang="en" sz="1000" u="none" cap="none" strike="noStrike">
                <a:solidFill>
                  <a:srgbClr val="FF4D4D"/>
                </a:solidFill>
                <a:latin typeface="Bebas Neue"/>
                <a:ea typeface="Bebas Neue"/>
                <a:cs typeface="Bebas Neue"/>
                <a:sym typeface="Bebas Neue"/>
              </a:rPr>
              <a:t> WORKFLOW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5084076" y="1674875"/>
            <a:ext cx="3511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onsolas"/>
              <a:buNone/>
            </a:pP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Edit → Save → User receives → Panic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5084076" y="2049775"/>
            <a:ext cx="3474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Most tools don't give you preview, version history, or rollback. So most builders skip all three</a:t>
            </a:r>
            <a:r>
              <a:rPr lang="en" sz="1200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 to avoid user complaints.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937760" y="3119628"/>
            <a:ext cx="3749100" cy="14631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4937760" y="3119628"/>
            <a:ext cx="3749100" cy="456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5084064" y="3211068"/>
            <a:ext cx="347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800"/>
              <a:buFont typeface="Consolas"/>
              <a:buNone/>
            </a:pPr>
            <a:r>
              <a:rPr i="0" lang="en" sz="1000" u="none" cap="none" strike="noStrike">
                <a:solidFill>
                  <a:srgbClr val="F5A623"/>
                </a:solidFill>
                <a:latin typeface="Bebas Neue"/>
                <a:ea typeface="Bebas Neue"/>
                <a:cs typeface="Bebas Neue"/>
                <a:sym typeface="Bebas Neue"/>
              </a:rPr>
              <a:t>YOU NEED</a:t>
            </a:r>
            <a:endParaRPr i="0" sz="1000" u="none" cap="none" strike="noStrike">
              <a:solidFill>
                <a:srgbClr val="F5A62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084064" y="3467100"/>
            <a:ext cx="329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300"/>
              <a:buFont typeface="Calibri"/>
              <a:buNone/>
            </a:pPr>
            <a:r>
              <a:rPr i="0" lang="en" sz="1200" u="none" cap="none" strike="noStrike">
                <a:solidFill>
                  <a:srgbClr val="F5A623"/>
                </a:solidFill>
                <a:latin typeface="DM Mono"/>
                <a:ea typeface="DM Mono"/>
                <a:cs typeface="DM Mono"/>
                <a:sym typeface="DM Mono"/>
              </a:rPr>
              <a:t>✓</a:t>
            </a: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Preview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5084064" y="3741420"/>
            <a:ext cx="329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300"/>
              <a:buFont typeface="Calibri"/>
              <a:buNone/>
            </a:pPr>
            <a:r>
              <a:rPr i="0" lang="en" sz="1200" u="none" cap="none" strike="noStrike">
                <a:solidFill>
                  <a:srgbClr val="F5A623"/>
                </a:solidFill>
                <a:latin typeface="DM Mono"/>
                <a:ea typeface="DM Mono"/>
                <a:cs typeface="DM Mono"/>
                <a:sym typeface="DM Mono"/>
              </a:rPr>
              <a:t>✓</a:t>
            </a: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Version history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5084064" y="4015740"/>
            <a:ext cx="329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300"/>
              <a:buFont typeface="Calibri"/>
              <a:buNone/>
            </a:pPr>
            <a:r>
              <a:rPr i="0" lang="en" sz="1200" u="none" cap="none" strike="noStrike">
                <a:solidFill>
                  <a:srgbClr val="F5A623"/>
                </a:solidFill>
                <a:latin typeface="DM Mono"/>
                <a:ea typeface="DM Mono"/>
                <a:cs typeface="DM Mono"/>
                <a:sym typeface="DM Mono"/>
              </a:rPr>
              <a:t>✓</a:t>
            </a: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Rollback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084064" y="4290060"/>
            <a:ext cx="329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300"/>
              <a:buFont typeface="Calibri"/>
              <a:buNone/>
            </a:pPr>
            <a:r>
              <a:rPr i="0" lang="en" sz="1200" u="none" cap="none" strike="noStrike">
                <a:solidFill>
                  <a:srgbClr val="F5A623"/>
                </a:solidFill>
                <a:latin typeface="DM Mono"/>
                <a:ea typeface="DM Mono"/>
                <a:cs typeface="DM Mono"/>
                <a:sym typeface="DM Mono"/>
              </a:rPr>
              <a:t>✓</a:t>
            </a: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 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Safe deploy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900"/>
              <a:buFont typeface="Consolas"/>
              <a:buNone/>
            </a:pP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// 0</a:t>
            </a:r>
            <a:r>
              <a:rPr lang="en" sz="1000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7</a:t>
            </a: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 — DELIVERABILITY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457200" y="493775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2800"/>
              <a:buFont typeface="Georgia"/>
              <a:buNone/>
            </a:pPr>
            <a:r>
              <a:rPr i="0" lang="en" sz="2600" u="none" cap="none" strike="noStrike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Good-looking emails that never arrive.</a:t>
            </a:r>
            <a:endParaRPr i="0" sz="26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4096570" y="1162650"/>
            <a:ext cx="2212800" cy="7314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4096570" y="1162650"/>
            <a:ext cx="45600" cy="731400"/>
          </a:xfrm>
          <a:prstGeom prst="rect">
            <a:avLst/>
          </a:prstGeom>
          <a:solidFill>
            <a:srgbClr val="FF4D4D"/>
          </a:solidFill>
          <a:ln cap="flat" cmpd="sng" w="12700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4233730" y="1327242"/>
            <a:ext cx="1965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✗</a:t>
            </a:r>
            <a:r>
              <a:rPr lang="en" sz="1200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SPF record missing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6474010" y="1162650"/>
            <a:ext cx="2212800" cy="7314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6474010" y="1162650"/>
            <a:ext cx="45600" cy="731400"/>
          </a:xfrm>
          <a:prstGeom prst="rect">
            <a:avLst/>
          </a:prstGeom>
          <a:solidFill>
            <a:srgbClr val="FF4D4D"/>
          </a:solidFill>
          <a:ln cap="flat" cmpd="sng" w="12700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6611170" y="1327242"/>
            <a:ext cx="1965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✗</a:t>
            </a:r>
            <a:r>
              <a:rPr lang="en" sz="1200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DKIM not enabled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4096570" y="2077050"/>
            <a:ext cx="2212800" cy="7314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4096570" y="2077050"/>
            <a:ext cx="45600" cy="731400"/>
          </a:xfrm>
          <a:prstGeom prst="rect">
            <a:avLst/>
          </a:prstGeom>
          <a:solidFill>
            <a:srgbClr val="FF4D4D"/>
          </a:solidFill>
          <a:ln cap="flat" cmpd="sng" w="12700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4233730" y="2241642"/>
            <a:ext cx="1965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✗</a:t>
            </a:r>
            <a:r>
              <a:rPr lang="en" sz="1200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Domain not verified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6474010" y="2077050"/>
            <a:ext cx="2212800" cy="7314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6474010" y="2077050"/>
            <a:ext cx="45600" cy="731400"/>
          </a:xfrm>
          <a:prstGeom prst="rect">
            <a:avLst/>
          </a:prstGeom>
          <a:solidFill>
            <a:srgbClr val="FF4D4D"/>
          </a:solidFill>
          <a:ln cap="flat" cmpd="sng" w="12700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6611170" y="2241642"/>
            <a:ext cx="1965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✗</a:t>
            </a:r>
            <a:r>
              <a:rPr lang="en" sz="1200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Wrong sender address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4096570" y="2991450"/>
            <a:ext cx="2212800" cy="7314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4096570" y="2991450"/>
            <a:ext cx="45600" cy="731400"/>
          </a:xfrm>
          <a:prstGeom prst="rect">
            <a:avLst/>
          </a:prstGeom>
          <a:solidFill>
            <a:srgbClr val="FF4D4D"/>
          </a:solidFill>
          <a:ln cap="flat" cmpd="sng" w="12700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4233730" y="3156042"/>
            <a:ext cx="1965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✗</a:t>
            </a:r>
            <a:r>
              <a:rPr lang="en" sz="1200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Using default SMTP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6474010" y="2991450"/>
            <a:ext cx="2212800" cy="7314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6474010" y="2991450"/>
            <a:ext cx="45600" cy="731400"/>
          </a:xfrm>
          <a:prstGeom prst="rect">
            <a:avLst/>
          </a:prstGeom>
          <a:solidFill>
            <a:srgbClr val="FF4D4D"/>
          </a:solidFill>
          <a:ln cap="flat" cmpd="sng" w="12700">
            <a:solidFill>
              <a:srgbClr val="FF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6611170" y="3156042"/>
            <a:ext cx="1965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D4D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✗</a:t>
            </a:r>
            <a:r>
              <a:rPr lang="en" sz="1200">
                <a:solidFill>
                  <a:srgbClr val="FF4D4D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Bad domain reputation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457200" y="1153490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800"/>
              <a:buFont typeface="Consolas"/>
              <a:buNone/>
            </a:pP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MINIMUM SAFE SETUP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457200" y="1464386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300"/>
              <a:buFont typeface="Calibri"/>
              <a:buNone/>
            </a:pP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✓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Custom domain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457200" y="1866722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300"/>
              <a:buFont typeface="Calibri"/>
              <a:buNone/>
            </a:pP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✓</a:t>
            </a:r>
            <a:r>
              <a:rPr lang="en" sz="1200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Verified sender address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457200" y="2269058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300"/>
              <a:buFont typeface="Calibri"/>
              <a:buNone/>
            </a:pP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✓</a:t>
            </a:r>
            <a:r>
              <a:rPr lang="en" sz="1200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SPF record configured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457200" y="2671394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300"/>
              <a:buFont typeface="Calibri"/>
              <a:buNone/>
            </a:pP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✓</a:t>
            </a:r>
            <a:r>
              <a:rPr lang="en" sz="1200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DKIM enabled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457200" y="3073730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300"/>
              <a:buFont typeface="Calibri"/>
              <a:buNone/>
            </a:pP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✓</a:t>
            </a:r>
            <a:r>
              <a:rPr lang="en" sz="1200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Domain verified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457200" y="3476066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1300"/>
              <a:buFont typeface="Calibri"/>
              <a:buNone/>
            </a:pPr>
            <a:r>
              <a:rPr i="0" lang="en" sz="1200" u="none" cap="none" strike="noStrike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✓</a:t>
            </a:r>
            <a:r>
              <a:rPr lang="en" sz="1200">
                <a:solidFill>
                  <a:srgbClr val="E8F542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Tested in Gmail + Outlook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457200" y="3968627"/>
            <a:ext cx="8229600" cy="6585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457200" y="3968627"/>
            <a:ext cx="8229600" cy="456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594360" y="4041779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onsolas"/>
              <a:buNone/>
            </a:pPr>
            <a:r>
              <a:rPr i="0" lang="en" sz="1000" u="none" cap="none" strike="noStrike">
                <a:solidFill>
                  <a:srgbClr val="F5A623"/>
                </a:solidFill>
                <a:latin typeface="Bebas Neue"/>
                <a:ea typeface="Bebas Neue"/>
                <a:cs typeface="Bebas Neue"/>
                <a:sym typeface="Bebas Neue"/>
              </a:rPr>
              <a:t>MOST BUILDERS DO THIS LAST. DO IT FIRST.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594360" y="4242947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Set up domain → verify → SPF + DKIM → test → check spam → only then ship emails.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900"/>
              <a:buFont typeface="Consolas"/>
              <a:buNone/>
            </a:pP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// 08 — WHAT I'M BUILDING NEXT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435497" y="474878"/>
            <a:ext cx="8229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2800"/>
              <a:buFont typeface="Georgia"/>
              <a:buNone/>
            </a:pPr>
            <a:r>
              <a:rPr lang="en" sz="2600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Solving email problems that every vibe-coded app runs into.</a:t>
            </a:r>
            <a:endParaRPr i="0" sz="26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457200" y="1245990"/>
            <a:ext cx="3931800" cy="8688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457200" y="1245990"/>
            <a:ext cx="45600" cy="8688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640080" y="1337430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50"/>
              <a:buFont typeface="Calibri"/>
              <a:buNone/>
            </a:pPr>
            <a:r>
              <a:rPr lang="en" sz="1300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Branded emails</a:t>
            </a:r>
            <a:endParaRPr i="0" sz="13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640080" y="1666614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Templates with preview-before-send and clean HTML export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457200" y="2270118"/>
            <a:ext cx="3931800" cy="8688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457200" y="2270118"/>
            <a:ext cx="45600" cy="8688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640080" y="2361558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50"/>
              <a:buFont typeface="Calibri"/>
              <a:buNone/>
            </a:pPr>
            <a:r>
              <a:rPr lang="en" sz="1300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Template versioning</a:t>
            </a:r>
            <a:endParaRPr i="0" sz="13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640080" y="2690742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Never lose a working version again</a:t>
            </a:r>
            <a:endParaRPr sz="1200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457200" y="3294246"/>
            <a:ext cx="3931800" cy="8688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457200" y="3294246"/>
            <a:ext cx="45600" cy="8688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640080" y="3385686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50"/>
              <a:buFont typeface="Calibri"/>
              <a:buNone/>
            </a:pPr>
            <a:r>
              <a:rPr lang="en" sz="1300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Safe deploy &amp; rollback</a:t>
            </a:r>
            <a:endParaRPr i="0" sz="13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640080" y="3714870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Ship with confidence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4846320" y="1245990"/>
            <a:ext cx="3931800" cy="8688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4846320" y="1245990"/>
            <a:ext cx="45600" cy="8688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5029200" y="1337430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50"/>
              <a:buFont typeface="Calibri"/>
              <a:buNone/>
            </a:pPr>
            <a:r>
              <a:rPr i="0" lang="en" sz="130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Event-triggered emails</a:t>
            </a:r>
            <a:endParaRPr i="0" sz="13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5029200" y="1666614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Automated, not manual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4846320" y="2270118"/>
            <a:ext cx="3931800" cy="8688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4846320" y="2270118"/>
            <a:ext cx="45600" cy="8688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5029200" y="2361558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50"/>
              <a:buFont typeface="Calibri"/>
              <a:buNone/>
            </a:pPr>
            <a:r>
              <a:rPr i="0" lang="en" sz="130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Deliverability diagnostics</a:t>
            </a:r>
            <a:endParaRPr i="0" sz="13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5029200" y="2690742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Know before users complain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4846320" y="3294246"/>
            <a:ext cx="3931800" cy="8688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4846320" y="3294246"/>
            <a:ext cx="45600" cy="8688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5029200" y="3385686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50"/>
              <a:buFont typeface="Calibri"/>
              <a:buNone/>
            </a:pPr>
            <a:r>
              <a:rPr i="0" lang="en" sz="1300" u="none" cap="none" strike="noStrike">
                <a:solidFill>
                  <a:srgbClr val="F0F0F0"/>
                </a:solidFill>
                <a:latin typeface="DM Mono"/>
                <a:ea typeface="DM Mono"/>
                <a:cs typeface="DM Mono"/>
                <a:sym typeface="DM Mono"/>
              </a:rPr>
              <a:t>Localisation</a:t>
            </a:r>
            <a:endParaRPr i="0" sz="13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5029200" y="3714870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888888"/>
                </a:solidFill>
                <a:latin typeface="DM Mono"/>
                <a:ea typeface="DM Mono"/>
                <a:cs typeface="DM Mono"/>
                <a:sym typeface="DM Mono"/>
              </a:rPr>
              <a:t>Emails that work for every market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900"/>
              <a:buFont typeface="Consolas"/>
              <a:buNone/>
            </a:pP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// </a:t>
            </a:r>
            <a:r>
              <a:rPr lang="en" sz="1000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09</a:t>
            </a: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 —</a:t>
            </a:r>
            <a:r>
              <a:rPr lang="en" sz="1000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 GET Early access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441960" y="493778"/>
            <a:ext cx="82296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000"/>
              <a:buFont typeface="Georgia"/>
              <a:buNone/>
            </a:pPr>
            <a:r>
              <a:rPr lang="en" sz="2600">
                <a:solidFill>
                  <a:srgbClr val="F0F0F0"/>
                </a:solidFill>
                <a:latin typeface="Bebas Neue"/>
                <a:ea typeface="Bebas Neue"/>
                <a:cs typeface="Bebas Neue"/>
                <a:sym typeface="Bebas Neue"/>
              </a:rPr>
              <a:t>Want emails that vibe with your customers?</a:t>
            </a:r>
            <a:endParaRPr i="0" sz="26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457200" y="1177475"/>
            <a:ext cx="50292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50"/>
              <a:buFont typeface="Calibri"/>
              <a:buNone/>
            </a:pPr>
            <a:r>
              <a:rPr lang="en" sz="1300">
                <a:solidFill>
                  <a:srgbClr val="CCCCCC"/>
                </a:solidFill>
                <a:latin typeface="DM Mono"/>
                <a:ea typeface="DM Mono"/>
                <a:cs typeface="DM Mono"/>
                <a:sym typeface="DM Mono"/>
              </a:rPr>
              <a:t>I'm building tools specifically for vibe-coded apps so your emails look as good as the rest of your product. Reach out below.</a:t>
            </a:r>
            <a:endParaRPr i="0" sz="13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457200" y="3310125"/>
            <a:ext cx="8214300" cy="10974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457200" y="3310125"/>
            <a:ext cx="8214300" cy="4560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594360" y="3401568"/>
            <a:ext cx="457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42"/>
              </a:buClr>
              <a:buSzPts val="800"/>
              <a:buFont typeface="Consolas"/>
              <a:buNone/>
            </a:pPr>
            <a:r>
              <a:rPr i="0" lang="en" sz="1000" u="none" cap="none" strike="noStrike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HOW TO </a:t>
            </a:r>
            <a:r>
              <a:rPr lang="en" sz="1000">
                <a:solidFill>
                  <a:srgbClr val="E8F542"/>
                </a:solidFill>
                <a:latin typeface="Bebas Neue"/>
                <a:ea typeface="Bebas Neue"/>
                <a:cs typeface="Bebas Neue"/>
                <a:sym typeface="Bebas Neue"/>
              </a:rPr>
              <a:t>GET early access</a:t>
            </a:r>
            <a:endParaRPr i="0" sz="10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594343" y="3768850"/>
            <a:ext cx="7886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888888"/>
                </a:solidFill>
                <a:highlight>
                  <a:srgbClr val="1A1A1A"/>
                </a:highlight>
                <a:latin typeface="DM Mono"/>
                <a:ea typeface="DM Mono"/>
                <a:cs typeface="DM Mono"/>
                <a:sym typeface="DM Mono"/>
              </a:rPr>
              <a:t>Message me on </a:t>
            </a:r>
            <a:r>
              <a:rPr lang="en" sz="1200" u="sng">
                <a:solidFill>
                  <a:srgbClr val="E8F542"/>
                </a:solidFill>
                <a:highlight>
                  <a:srgbClr val="1A1A1A"/>
                </a:highlight>
                <a:latin typeface="DM Mono"/>
                <a:ea typeface="DM Mono"/>
                <a:cs typeface="DM Mono"/>
                <a:sym typeface="DM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linkedin.com/in/chicocharlesworth</a:t>
            </a:r>
            <a:r>
              <a:rPr lang="en" sz="1200">
                <a:solidFill>
                  <a:srgbClr val="888888"/>
                </a:solidFill>
                <a:highlight>
                  <a:srgbClr val="1A1A1A"/>
                </a:highlight>
                <a:latin typeface="DM Mono"/>
                <a:ea typeface="DM Mono"/>
                <a:cs typeface="DM Mono"/>
                <a:sym typeface="DM Mono"/>
              </a:rPr>
              <a:t> for early access.</a:t>
            </a:r>
            <a:endParaRPr i="0" sz="120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8F542"/>
          </a:solidFill>
          <a:ln cap="flat" cmpd="sng" w="12700">
            <a:solidFill>
              <a:srgbClr val="E8F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4"/>
          <p:cNvSpPr/>
          <p:nvPr/>
        </p:nvSpPr>
        <p:spPr>
          <a:xfrm>
            <a:off x="457200" y="4847825"/>
            <a:ext cx="822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50"/>
              <a:buFont typeface="Consolas"/>
              <a:buNone/>
            </a:pPr>
            <a:r>
              <a:rPr i="0" lang="en" sz="950" u="none" cap="none" strike="noStrike">
                <a:solidFill>
                  <a:srgbClr val="0A0A0A"/>
                </a:solidFill>
                <a:latin typeface="DM Mono"/>
                <a:ea typeface="DM Mono"/>
                <a:cs typeface="DM Mono"/>
                <a:sym typeface="DM Mono"/>
              </a:rPr>
              <a:t>Chico Charlesworth  ·  Guide for Vibe Coders</a:t>
            </a:r>
            <a:endParaRPr i="0" sz="950" u="none" cap="none" strike="noStrike">
              <a:solidFill>
                <a:schemeClr val="dk1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